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4"/>
  </p:notesMasterIdLst>
  <p:handoutMasterIdLst>
    <p:handoutMasterId r:id="rId15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48A3544-385A-47A9-AAA5-ECDE6612A11F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F73BE05-6C7D-468D-B433-DDFC4F0819BE}" type="datetime1">
              <a:rPr lang="es-ES" smtClean="0"/>
              <a:t>12/09/2026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"/>
              <a:t>Haga clic para modificar los estilos de texto del patrón</a:t>
            </a:r>
            <a:endParaRPr lang="en-US"/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s-ES"/>
              <a:t>Haga clic para modificar el estilo de subtítulo del patrón</a:t>
            </a:r>
            <a:endParaRPr lang="en-US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DD6E0-AD8D-45E4-AD9F-19818203D7BD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2B802E-BFC6-4F89-8E3C-91026AB025AB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790B00-0530-4D1E-BDCB-36188ECD53E6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289539-2F87-43AF-8A5D-E992DCF9F593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Marcador de posición de número de diapositiva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B5D441-F920-4B23-9C83-2DCFFDC4C28F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Marcador de posición de número de diapositiva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905ED3-47DC-4785-91BE-A3159F909C32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572A2E-2D1F-4CE9-8283-32B623FD9550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F3EBED02-4679-462C-830F-722888DF8E2D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1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EB264D6B-F770-42EA-A416-77765C2D9E77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FC992A-CC56-4D4E-AD85-36A20390DB11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3A0641-D90D-45EF-A619-84D92EAC9606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0B690EE5-24CD-41B5-AD70-FAB1408B17DB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á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pPr rtl="0"/>
            <a:r>
              <a:rPr lang="es-ES" sz="3200" b="1" i="0" dirty="0">
                <a:solidFill>
                  <a:srgbClr val="0F1115"/>
                </a:solidFill>
                <a:effectLst/>
                <a:latin typeface="quote-cjk-patch"/>
              </a:rPr>
              <a:t>Análisis de Negocio: Online </a:t>
            </a:r>
            <a:r>
              <a:rPr lang="es-ES" sz="3200" b="1" i="0" dirty="0" err="1">
                <a:solidFill>
                  <a:srgbClr val="0F1115"/>
                </a:solidFill>
                <a:effectLst/>
                <a:latin typeface="quote-cjk-patch"/>
              </a:rPr>
              <a:t>Retail</a:t>
            </a:r>
            <a:r>
              <a:rPr lang="es-ES" sz="3200" b="1" i="0" dirty="0">
                <a:solidFill>
                  <a:srgbClr val="0F1115"/>
                </a:solidFill>
                <a:effectLst/>
                <a:latin typeface="quote-cjk-patch"/>
              </a:rPr>
              <a:t> II</a:t>
            </a:r>
            <a:br>
              <a:rPr lang="es-ES" sz="3200" dirty="0"/>
            </a:br>
            <a:r>
              <a:rPr lang="es-ES" sz="1600" b="0" i="0" dirty="0">
                <a:solidFill>
                  <a:srgbClr val="0F1115"/>
                </a:solidFill>
                <a:effectLst/>
                <a:latin typeface="quote-cjk-patch"/>
              </a:rPr>
              <a:t>Segmentación de clientes y recomendaciones estratégicas</a:t>
            </a:r>
            <a:br>
              <a:rPr lang="es-ES" sz="3200" dirty="0"/>
            </a:br>
            <a:br>
              <a:rPr lang="es-ES" sz="3200" dirty="0"/>
            </a:br>
            <a:r>
              <a:rPr lang="es-ES" sz="1600" b="1" i="0" dirty="0">
                <a:solidFill>
                  <a:srgbClr val="0F1115"/>
                </a:solidFill>
                <a:effectLst/>
                <a:latin typeface="quote-cjk-patch"/>
              </a:rPr>
              <a:t>Herramientas:</a:t>
            </a:r>
            <a:r>
              <a:rPr lang="es-ES" sz="1600" b="0" i="0" dirty="0">
                <a:solidFill>
                  <a:srgbClr val="0F1115"/>
                </a:solidFill>
                <a:effectLst/>
                <a:latin typeface="quote-cjk-patch"/>
              </a:rPr>
              <a:t> Python · pandas · </a:t>
            </a:r>
            <a:r>
              <a:rPr lang="es-ES" sz="1600" b="0" i="0" dirty="0" err="1">
                <a:solidFill>
                  <a:srgbClr val="0F1115"/>
                </a:solidFill>
                <a:effectLst/>
                <a:latin typeface="quote-cjk-patch"/>
              </a:rPr>
              <a:t>matplotlib</a:t>
            </a:r>
            <a:r>
              <a:rPr lang="es-ES" sz="1600" b="0" i="0" dirty="0">
                <a:solidFill>
                  <a:srgbClr val="0F1115"/>
                </a:solidFill>
                <a:effectLst/>
                <a:latin typeface="quote-cjk-patch"/>
              </a:rPr>
              <a:t> · Power BI</a:t>
            </a:r>
            <a:endParaRPr lang="es" sz="1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Judit Giravent</a:t>
            </a:r>
          </a:p>
          <a:p>
            <a:pPr rtl="0"/>
            <a:r>
              <a:rPr lang="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09/2026</a:t>
            </a:r>
            <a:endParaRPr lang="e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Imagen 4" descr="Una imagen que contiene edificio, sentado, banco, lateral&#10;&#10;Descripción generada automáticamente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ElevenLabs_2026-09-11T23_11_21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79F5089D-9C17-83FC-94A1-55E37E8951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231020" y="569423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67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633" y="2049867"/>
            <a:ext cx="10058400" cy="3334266"/>
          </a:xfrm>
        </p:spPr>
        <p:txBody>
          <a:bodyPr rtlCol="0" anchor="ctr">
            <a:normAutofit fontScale="9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dirty="0"/>
              <a:t>¿Qué vamos a analizar?</a:t>
            </a:r>
            <a:br>
              <a:rPr lang="es-ES" sz="2000" dirty="0"/>
            </a:br>
            <a:br>
              <a:rPr lang="es-ES" sz="2000" dirty="0"/>
            </a:br>
            <a:r>
              <a:rPr lang="es-ES" sz="2000" b="1" i="0" dirty="0" err="1">
                <a:solidFill>
                  <a:srgbClr val="0F1115"/>
                </a:solidFill>
                <a:effectLst/>
                <a:latin typeface="quote-cjk-patch"/>
              </a:rPr>
              <a:t>Dataset</a:t>
            </a: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Online </a:t>
            </a:r>
            <a:r>
              <a:rPr lang="es-ES" sz="2000" b="0" i="0" dirty="0" err="1">
                <a:solidFill>
                  <a:srgbClr val="0F1115"/>
                </a:solidFill>
                <a:effectLst/>
                <a:latin typeface="quote-cjk-patch"/>
              </a:rPr>
              <a:t>Retail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II (UCI Machine </a:t>
            </a:r>
            <a:r>
              <a:rPr lang="es-ES" sz="2000" b="0" i="0" dirty="0" err="1">
                <a:solidFill>
                  <a:srgbClr val="0F1115"/>
                </a:solidFill>
                <a:effectLst/>
                <a:latin typeface="quote-cjk-patch"/>
              </a:rPr>
              <a:t>Learning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sz="2000" b="0" i="0" dirty="0" err="1">
                <a:solidFill>
                  <a:srgbClr val="0F1115"/>
                </a:solidFill>
                <a:effectLst/>
                <a:latin typeface="quote-cjk-patch"/>
              </a:rPr>
              <a:t>Repository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).</a:t>
            </a:r>
            <a:b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Periodo: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diciembre 2009 – diciembre 2011.</a:t>
            </a:r>
            <a:b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Volumen: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1.067.371 transacciones · 5.852 clientes · 43 países.</a:t>
            </a:r>
            <a:b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Sector: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tienda online británica de regalo y decoración.</a:t>
            </a:r>
            <a:b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¿Cómo podemos aumentar los ingresos con los clientes que ya tenemos?</a:t>
            </a:r>
            <a:b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Objetivos:</a:t>
            </a:r>
            <a:b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Analizar el comportamiento de compra.</a:t>
            </a:r>
            <a:b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Segmentar la base de clientes.</a:t>
            </a:r>
            <a:b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Identificar oportunidades cuantificables.</a:t>
            </a:r>
            <a:b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es-ES" sz="2000" dirty="0"/>
            </a:br>
            <a:br>
              <a:rPr lang="es-ES" sz="2000" dirty="0"/>
            </a:br>
            <a:br>
              <a:rPr lang="es-ES" sz="2000" dirty="0"/>
            </a:br>
            <a:br>
              <a:rPr lang="es-ES" sz="2000" dirty="0"/>
            </a:br>
            <a:br>
              <a:rPr lang="es-ES" sz="2000" dirty="0"/>
            </a:br>
            <a:br>
              <a:rPr lang="es-ES" sz="2000" dirty="0"/>
            </a:br>
            <a:br>
              <a:rPr lang="es-ES" sz="2000" dirty="0"/>
            </a:br>
            <a:br>
              <a:rPr lang="es-ES" sz="2000" dirty="0"/>
            </a:br>
            <a:br>
              <a:rPr lang="es-ES" sz="2000" dirty="0"/>
            </a:br>
            <a:br>
              <a:rPr lang="es-ES" sz="2000" dirty="0"/>
            </a:br>
            <a:endParaRPr lang="es" sz="2000" i="1" dirty="0">
              <a:solidFill>
                <a:srgbClr val="FFFFFF"/>
              </a:solidFill>
            </a:endParaRP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 rtlCol="0">
            <a:normAutofit/>
          </a:bodyPr>
          <a:lstStyle/>
          <a:p>
            <a:pPr rtl="0"/>
            <a:endParaRPr lang="es" dirty="0">
              <a:solidFill>
                <a:srgbClr val="FFFFFF"/>
              </a:solidFill>
            </a:endParaRPr>
          </a:p>
        </p:txBody>
      </p:sp>
      <p:pic>
        <p:nvPicPr>
          <p:cNvPr id="5" name="ElevenLabs_2026-09-11T23_12_22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0C78A189-FA56-8B14-0764-DCC628F92B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622046" y="449179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61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EB13D-17A1-EBCF-F907-048FBAAC8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tabLst/>
              <a:defRPr/>
            </a:pPr>
            <a:r>
              <a:rPr kumimoji="0" lang="es-E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Cómo lo hemos hecho</a:t>
            </a:r>
            <a:b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</a:br>
            <a:endParaRPr lang="es-ES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30EBF16F-D949-5A52-9230-8B4D4309D5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0632274"/>
              </p:ext>
            </p:extLst>
          </p:nvPr>
        </p:nvGraphicFramePr>
        <p:xfrm>
          <a:off x="8025548" y="2523429"/>
          <a:ext cx="4000014" cy="33987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3338">
                  <a:extLst>
                    <a:ext uri="{9D8B030D-6E8A-4147-A177-3AD203B41FA5}">
                      <a16:colId xmlns:a16="http://schemas.microsoft.com/office/drawing/2014/main" val="434201"/>
                    </a:ext>
                  </a:extLst>
                </a:gridCol>
                <a:gridCol w="1333338">
                  <a:extLst>
                    <a:ext uri="{9D8B030D-6E8A-4147-A177-3AD203B41FA5}">
                      <a16:colId xmlns:a16="http://schemas.microsoft.com/office/drawing/2014/main" val="2436174234"/>
                    </a:ext>
                  </a:extLst>
                </a:gridCol>
                <a:gridCol w="1333338">
                  <a:extLst>
                    <a:ext uri="{9D8B030D-6E8A-4147-A177-3AD203B41FA5}">
                      <a16:colId xmlns:a16="http://schemas.microsoft.com/office/drawing/2014/main" val="870582979"/>
                    </a:ext>
                  </a:extLst>
                </a:gridCol>
              </a:tblGrid>
              <a:tr h="32939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Fase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Acción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Herramienta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790422660"/>
                  </a:ext>
                </a:extLst>
              </a:tr>
              <a:tr h="329397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1. Carga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Importación y exploración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Python (pandas)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362072648"/>
                  </a:ext>
                </a:extLst>
              </a:tr>
              <a:tr h="329397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2. Limpieza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5 pasos de depuración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Python (pandas)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00969628"/>
                  </a:ext>
                </a:extLst>
              </a:tr>
              <a:tr h="329397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3. EDA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Patrones y correlaciones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Python (matplotlib)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845303877"/>
                  </a:ext>
                </a:extLst>
              </a:tr>
              <a:tr h="329397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4. RFM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Segmentación de clientes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Python (pandas)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38053148"/>
                  </a:ext>
                </a:extLst>
              </a:tr>
              <a:tr h="329397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5. Recomendaciones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Plan de acción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Análisis de negocio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686748869"/>
                  </a:ext>
                </a:extLst>
              </a:tr>
            </a:tbl>
          </a:graphicData>
        </a:graphic>
      </p:graphicFrame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1093D0-53FC-0132-BAB1-09FBAB20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2B802E-BFC6-4F89-8E3C-91026AB025AB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31C752-8FCF-2074-A179-AE03E7DD5003}"/>
              </a:ext>
            </a:extLst>
          </p:cNvPr>
          <p:cNvSpPr txBox="1"/>
          <p:nvPr/>
        </p:nvSpPr>
        <p:spPr>
          <a:xfrm>
            <a:off x="878305" y="1733664"/>
            <a:ext cx="10521616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endParaRPr lang="es-ES" sz="1800" b="1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Diagrama de flujo:</a:t>
            </a:r>
            <a:endParaRPr lang="es-E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Datos brutos → Limpieza → EDA → RFM → Recomendaciones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Detalle por fase:</a:t>
            </a:r>
            <a:endParaRPr lang="es-E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Resultado: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 995.416 transacciones limpias · 5.852 clientes segmentados.</a:t>
            </a:r>
            <a:endParaRPr lang="es-E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8" name="ElevenLabs_2026-09-11T23_15_35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BA000D29-C252-014E-6A9F-408CF3AC30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11593" y="5837863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46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62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20FC1-9032-C7BC-D38F-9479818E6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Panorama general (2009–2011)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3CD21C57-3AB2-6A69-78B6-45E05DDC54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11" y="1841531"/>
            <a:ext cx="7392152" cy="2505228"/>
          </a:xfrm>
          <a:prstGeom prst="rect">
            <a:avLst/>
          </a:prstGeom>
        </p:spPr>
      </p:pic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A47D26-7191-7E0C-39FB-02B609319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2B802E-BFC6-4F89-8E3C-91026AB025AB}" type="datetime1">
              <a:rPr lang="es-ES" smtClean="0"/>
              <a:t>12/09/2026</a:t>
            </a:fld>
            <a:endParaRPr lang="en-US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9B257F5F-B4B9-F83A-0E36-A8684644A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041188"/>
              </p:ext>
            </p:extLst>
          </p:nvPr>
        </p:nvGraphicFramePr>
        <p:xfrm>
          <a:off x="660399" y="4450930"/>
          <a:ext cx="3876740" cy="1839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8370">
                  <a:extLst>
                    <a:ext uri="{9D8B030D-6E8A-4147-A177-3AD203B41FA5}">
                      <a16:colId xmlns:a16="http://schemas.microsoft.com/office/drawing/2014/main" val="4115459143"/>
                    </a:ext>
                  </a:extLst>
                </a:gridCol>
                <a:gridCol w="1938370">
                  <a:extLst>
                    <a:ext uri="{9D8B030D-6E8A-4147-A177-3AD203B41FA5}">
                      <a16:colId xmlns:a16="http://schemas.microsoft.com/office/drawing/2014/main" val="1992444686"/>
                    </a:ext>
                  </a:extLst>
                </a:gridCol>
              </a:tblGrid>
              <a:tr h="26237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KPI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Valor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2695192213"/>
                  </a:ext>
                </a:extLst>
              </a:tr>
              <a:tr h="262376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Ingresos totales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£19,14 M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449003265"/>
                  </a:ext>
                </a:extLst>
              </a:tr>
              <a:tr h="262376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Ticket medio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£19,23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9913087"/>
                  </a:ext>
                </a:extLst>
              </a:tr>
              <a:tr h="262376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Pedidos únicos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39.631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92170604"/>
                  </a:ext>
                </a:extLst>
              </a:tr>
              <a:tr h="262376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>
                          <a:effectLst/>
                        </a:rPr>
                        <a:t>Clientes únicos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dirty="0">
                          <a:effectLst/>
                        </a:rPr>
                        <a:t>5.852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7703583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4549FE9A-19EB-D602-4CB9-2AB7480D0F15}"/>
              </a:ext>
            </a:extLst>
          </p:cNvPr>
          <p:cNvSpPr txBox="1"/>
          <p:nvPr/>
        </p:nvSpPr>
        <p:spPr>
          <a:xfrm>
            <a:off x="7910949" y="2107943"/>
            <a:ext cx="3876740" cy="413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 err="1">
                <a:solidFill>
                  <a:schemeClr val="tx1"/>
                </a:solidFill>
                <a:effectLst/>
                <a:latin typeface="+mn-lt"/>
              </a:rPr>
              <a:t>KPIs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 en tarjetas (4 cajas):</a:t>
            </a:r>
            <a:endParaRPr lang="es-E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Hallazgos destacados:</a:t>
            </a:r>
            <a:endParaRPr lang="es-ES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📈 Estacionalidad clara: los ingresos se triplican en Q4 (campaña navideña).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🌍 El 92% de las transacciones vienen del Reino Unido.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📅 El jueves es el día de mayor facturación.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800" b="0" i="0" dirty="0">
                <a:solidFill>
                  <a:schemeClr val="tx1"/>
                </a:solidFill>
                <a:effectLst/>
                <a:latin typeface="+mn-lt"/>
              </a:rPr>
              <a:t>⏰ El pico horario es a las 12:00.</a:t>
            </a:r>
            <a:endParaRPr lang="es-E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1" name="ElevenLabs_2026-09-11T23_21_09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D6267EB1-4FC6-F3E8-7616-8F8952069C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88320" y="604652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5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49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88BED-37D8-D7FB-B777-51654A2A3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397818"/>
          </a:xfrm>
        </p:spPr>
        <p:txBody>
          <a:bodyPr>
            <a:normAutofit/>
          </a:bodyPr>
          <a:lstStyle/>
          <a:p>
            <a:r>
              <a:rPr lang="es-ES" sz="2800" dirty="0"/>
              <a:t>El 22% de los clientes genera el 70% de los ingresos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27E92CA-BA80-CE74-16C4-AE7A08D9B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90" y="1941285"/>
            <a:ext cx="6367810" cy="3581210"/>
          </a:xfrm>
          <a:prstGeom prst="rect">
            <a:avLst/>
          </a:prstGeom>
        </p:spPr>
      </p:pic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46C1F9-64BE-208B-251F-7EA9BCE0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2B802E-BFC6-4F89-8E3C-91026AB025AB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53962FF-013F-A59F-0C65-00DF7C46071E}"/>
              </a:ext>
            </a:extLst>
          </p:cNvPr>
          <p:cNvSpPr txBox="1"/>
          <p:nvPr/>
        </p:nvSpPr>
        <p:spPr>
          <a:xfrm>
            <a:off x="6864873" y="2222977"/>
            <a:ext cx="56147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Concentración extrema de ingresos</a:t>
            </a:r>
            <a:endParaRPr lang="es-ES" dirty="0"/>
          </a:p>
          <a:p>
            <a:endParaRPr lang="es-ES" dirty="0"/>
          </a:p>
          <a:p>
            <a:pPr lvl="0"/>
            <a:r>
              <a:rPr lang="es-ES" b="1" dirty="0"/>
              <a:t>1.295 clientes (22,13%)</a:t>
            </a:r>
            <a:r>
              <a:rPr lang="es-ES" dirty="0"/>
              <a:t> = </a:t>
            </a:r>
            <a:r>
              <a:rPr lang="es-ES" b="1" dirty="0"/>
              <a:t>69,5% de los ingresos</a:t>
            </a:r>
            <a:r>
              <a:rPr lang="es-ES" dirty="0"/>
              <a:t> (£11,4M).</a:t>
            </a:r>
          </a:p>
          <a:p>
            <a:pPr lvl="0"/>
            <a:r>
              <a:rPr lang="es-ES" dirty="0"/>
              <a:t>El </a:t>
            </a:r>
            <a:r>
              <a:rPr lang="es-ES" b="1" dirty="0"/>
              <a:t>cliente top</a:t>
            </a:r>
            <a:r>
              <a:rPr lang="es-ES" dirty="0"/>
              <a:t> ha gastado </a:t>
            </a:r>
            <a:r>
              <a:rPr lang="es-ES" b="1" dirty="0"/>
              <a:t>£507.320</a:t>
            </a:r>
            <a:r>
              <a:rPr lang="es-ES" dirty="0"/>
              <a:t> (3% del total).</a:t>
            </a:r>
          </a:p>
          <a:p>
            <a:pPr lvl="0"/>
            <a:r>
              <a:rPr lang="es-ES" b="1" dirty="0"/>
              <a:t>Riesgo:</a:t>
            </a:r>
            <a:r>
              <a:rPr lang="es-ES" dirty="0"/>
              <a:t> perder unos pocos clientes clave hundiría la facturación.</a:t>
            </a:r>
          </a:p>
          <a:p>
            <a:endParaRPr lang="es-ES" dirty="0"/>
          </a:p>
        </p:txBody>
      </p:sp>
      <p:pic>
        <p:nvPicPr>
          <p:cNvPr id="8" name="ElevenLabs_2026-09-11T23_24_13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8E688272-2396-A41D-5762-953A974FC2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95815" y="569311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8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48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36FB6-EC93-9D7A-CB08-F84BB71A4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Los 6 segmentos de clientes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69F379E4-76A8-0350-D0AE-E557ED21A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01" y="2299653"/>
            <a:ext cx="6310474" cy="3760788"/>
          </a:xfrm>
          <a:prstGeom prst="rect">
            <a:avLst/>
          </a:prstGeom>
        </p:spPr>
      </p:pic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961409-C1FE-476D-F6F1-471FE371B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2B802E-BFC6-4F89-8E3C-91026AB025AB}" type="datetime1">
              <a:rPr lang="es-ES" smtClean="0"/>
              <a:t>12/09/2026</a:t>
            </a:fld>
            <a:endParaRPr lang="en-US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692FA91F-C005-5E0A-3F3B-8BFC1CCDE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333091"/>
              </p:ext>
            </p:extLst>
          </p:nvPr>
        </p:nvGraphicFramePr>
        <p:xfrm>
          <a:off x="6685264" y="2484319"/>
          <a:ext cx="5191924" cy="3007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2164">
                  <a:extLst>
                    <a:ext uri="{9D8B030D-6E8A-4147-A177-3AD203B41FA5}">
                      <a16:colId xmlns:a16="http://schemas.microsoft.com/office/drawing/2014/main" val="3780292577"/>
                    </a:ext>
                  </a:extLst>
                </a:gridCol>
                <a:gridCol w="1062440">
                  <a:extLst>
                    <a:ext uri="{9D8B030D-6E8A-4147-A177-3AD203B41FA5}">
                      <a16:colId xmlns:a16="http://schemas.microsoft.com/office/drawing/2014/main" val="1755607596"/>
                    </a:ext>
                  </a:extLst>
                </a:gridCol>
                <a:gridCol w="1062440">
                  <a:extLst>
                    <a:ext uri="{9D8B030D-6E8A-4147-A177-3AD203B41FA5}">
                      <a16:colId xmlns:a16="http://schemas.microsoft.com/office/drawing/2014/main" val="509568308"/>
                    </a:ext>
                  </a:extLst>
                </a:gridCol>
                <a:gridCol w="1062440">
                  <a:extLst>
                    <a:ext uri="{9D8B030D-6E8A-4147-A177-3AD203B41FA5}">
                      <a16:colId xmlns:a16="http://schemas.microsoft.com/office/drawing/2014/main" val="1280945745"/>
                    </a:ext>
                  </a:extLst>
                </a:gridCol>
                <a:gridCol w="1062440">
                  <a:extLst>
                    <a:ext uri="{9D8B030D-6E8A-4147-A177-3AD203B41FA5}">
                      <a16:colId xmlns:a16="http://schemas.microsoft.com/office/drawing/2014/main" val="2491427858"/>
                    </a:ext>
                  </a:extLst>
                </a:gridCol>
              </a:tblGrid>
              <a:tr h="2379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Segmento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Clientes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%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Ingresos (£)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% Ingresos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683748405"/>
                  </a:ext>
                </a:extLst>
              </a:tr>
              <a:tr h="237961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Campeones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1.295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22,13%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11.432.476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69,5%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885570"/>
                  </a:ext>
                </a:extLst>
              </a:tr>
              <a:tr h="237961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Leales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689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11,77%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1.780.888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10,8%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111167580"/>
                  </a:ext>
                </a:extLst>
              </a:tr>
              <a:tr h="237961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En riesgo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614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10,49%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1.339.641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8,1%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95777136"/>
                  </a:ext>
                </a:extLst>
              </a:tr>
              <a:tr h="237961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Otros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635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10,85%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821.530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5,0%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049380922"/>
                  </a:ext>
                </a:extLst>
              </a:tr>
              <a:tr h="237961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Necesitan atención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2.174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37,15%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818.837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dirty="0">
                          <a:effectLst/>
                        </a:rPr>
                        <a:t>5,0%</a:t>
                      </a:r>
                      <a:endParaRPr lang="es-ES" sz="11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536774503"/>
                  </a:ext>
                </a:extLst>
              </a:tr>
              <a:tr h="237961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Potenciales leales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445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7,60%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>
                          <a:effectLst/>
                        </a:rPr>
                        <a:t>244.636</a:t>
                      </a:r>
                      <a:endParaRPr lang="es-ES" sz="11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dirty="0">
                          <a:effectLst/>
                        </a:rPr>
                        <a:t>1,5%</a:t>
                      </a:r>
                      <a:endParaRPr lang="es-ES" sz="11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897791602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C7700BCA-8A65-C5FA-9002-2AA2DF82920F}"/>
              </a:ext>
            </a:extLst>
          </p:cNvPr>
          <p:cNvSpPr txBox="1"/>
          <p:nvPr/>
        </p:nvSpPr>
        <p:spPr>
          <a:xfrm>
            <a:off x="6625286" y="21149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+mn-lt"/>
              </a:rPr>
              <a:t>Tabla con los 6 segmentos:</a:t>
            </a:r>
            <a:endParaRPr lang="es-ES" sz="1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1" name="ElevenLabs_2026-09-11T23_26_57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0C93F083-F78B-0748-0F3A-0EA80EE44C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17610" y="581675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84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26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06334F-534E-31C3-1F33-6FBE4B46C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¿Dónde debemos actuar primero?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82DE586E-5B16-A9E8-0777-A1724FA39E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97" y="1981868"/>
            <a:ext cx="5317468" cy="3760788"/>
          </a:xfrm>
          <a:prstGeom prst="rect">
            <a:avLst/>
          </a:prstGeom>
        </p:spPr>
      </p:pic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950D4E-430B-20D6-BD4E-C99113A7A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2B802E-BFC6-4F89-8E3C-91026AB025AB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566A112-23F9-03C2-CED3-18B704064FB0}"/>
              </a:ext>
            </a:extLst>
          </p:cNvPr>
          <p:cNvSpPr txBox="1"/>
          <p:nvPr/>
        </p:nvSpPr>
        <p:spPr>
          <a:xfrm>
            <a:off x="6331513" y="2708100"/>
            <a:ext cx="57197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Interpretación visual </a:t>
            </a:r>
          </a:p>
          <a:p>
            <a:endParaRPr lang="es-ES" b="1" dirty="0"/>
          </a:p>
          <a:p>
            <a:r>
              <a:rPr lang="es-ES" b="1" dirty="0"/>
              <a:t>Arriba (mucho ingreso, pocos clientes):</a:t>
            </a:r>
            <a:r>
              <a:rPr lang="es-ES" dirty="0"/>
              <a:t> Campeones → proteger.</a:t>
            </a:r>
          </a:p>
          <a:p>
            <a:pPr lvl="0"/>
            <a:r>
              <a:rPr lang="es-ES" b="1" dirty="0"/>
              <a:t>Abajo derecha (muchos clientes, poco ingreso):</a:t>
            </a:r>
            <a:r>
              <a:rPr lang="es-ES" dirty="0"/>
              <a:t> Necesitan atención → activar.</a:t>
            </a:r>
          </a:p>
          <a:p>
            <a:pPr lvl="0"/>
            <a:r>
              <a:rPr lang="es-ES" b="1" dirty="0"/>
              <a:t>Centro:</a:t>
            </a:r>
            <a:r>
              <a:rPr lang="es-ES" dirty="0"/>
              <a:t> En riesgo → reactivar con urgencia.</a:t>
            </a:r>
          </a:p>
          <a:p>
            <a:endParaRPr lang="es-ES" dirty="0"/>
          </a:p>
        </p:txBody>
      </p:sp>
      <p:pic>
        <p:nvPicPr>
          <p:cNvPr id="8" name="ElevenLabs_2026-09-11T23_30_04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9E07D661-D33D-C5C1-5CB8-288690966F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36121" y="557881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18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59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8B083-D90C-53F2-632A-BAC1E03E3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 dirty="0"/>
              <a:t>Hallazgo 1: los Campeones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7D673A-52CB-119B-9FF9-64101F66D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Datos clave (destacados):</a:t>
            </a:r>
            <a:endParaRPr lang="es-ES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1.295 clientes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→ </a:t>
            </a: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£11,43 M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(69,5% de ingresos).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Ingreso medio: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£8.828 por cliente.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Recencia media: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19,84 días.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Frecuencia media: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16,98 pedidos.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Acción propuesta:</a:t>
            </a:r>
            <a:endParaRPr lang="es-ES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buNone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Programa VIP con acceso anticipado, regalos exclusivos y atención personalizada.</a:t>
            </a:r>
            <a:endParaRPr lang="es-ES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Objetivo: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Mantener tasa de retención &gt;90%.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Impacto: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Proteger </a:t>
            </a: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£11,4 M anuales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0D4D95-511A-EAD2-D068-CFDE60153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2B802E-BFC6-4F89-8E3C-91026AB025AB}" type="datetime1">
              <a:rPr lang="es-ES" smtClean="0"/>
              <a:t>12/09/2026</a:t>
            </a:fld>
            <a:endParaRPr lang="en-US" dirty="0"/>
          </a:p>
        </p:txBody>
      </p:sp>
      <p:pic>
        <p:nvPicPr>
          <p:cNvPr id="5" name="ElevenLabs_2026-09-11T23_31_59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28512EC3-0998-A0FB-BC36-2AD1A0D10F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94720" y="575257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50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D0562-F989-16D9-A71C-7F883DF69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Hallazgo 2: En riesgo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F115E6-8058-23A9-5D01-75499B67A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Datos clave:</a:t>
            </a:r>
            <a:endParaRPr lang="es-ES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614 clientes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→ </a:t>
            </a: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£1,34 M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de ingresos históricos.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8,15% de los ingresos totales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están en riesgo de pérdida.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Recencia media: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359,74 días (casi un año sin comprar).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Acción propuesta:</a:t>
            </a:r>
            <a:endParaRPr lang="es-ES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buNone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Campaña de reactivación urgente: email personalizado + descuento 15% + envío gratis + plazo 7 días.</a:t>
            </a:r>
            <a:endParaRPr lang="es-ES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Objetivo: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Recuperar al menos el 30% del segmento.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Impacto: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+£400.000 adicionales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8F7F23-15DD-0D84-D010-BA2ABD2CD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2B802E-BFC6-4F89-8E3C-91026AB025AB}" type="datetime1">
              <a:rPr lang="es-ES" smtClean="0"/>
              <a:t>12/09/2026</a:t>
            </a:fld>
            <a:endParaRPr lang="en-US" dirty="0"/>
          </a:p>
        </p:txBody>
      </p:sp>
      <p:pic>
        <p:nvPicPr>
          <p:cNvPr id="5" name="ElevenLabs_2026-09-11T23_33_37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15C1EEA2-DFAA-30C3-9352-D8D029E4CD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05578" y="5670601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2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68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32818F-AABB-5AC5-C75D-D80B42255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Hallazgo 3: la gran oportunidad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A5DCB4-76FF-C329-3E78-CA0E57BC4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Datos clave:</a:t>
            </a:r>
            <a:endParaRPr lang="es-ES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2.174 clientes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(37,15% del total) → solo </a:t>
            </a: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£818.837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(5% de ingresos).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Ingreso medio: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£376,65 por cliente (el más bajo).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Frecuencia media: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1,52 pedidos.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Acción propuesta:</a:t>
            </a:r>
            <a:endParaRPr lang="es-ES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buNone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Campaña de segunda compra: cupón de £10 + recomendaciones personalizadas + contenido de valor.</a:t>
            </a:r>
            <a:endParaRPr lang="es-ES" sz="2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Objetivo: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Convertir el 20% en Potenciales leales.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Impacto: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s-ES" sz="2000" b="1" i="0" dirty="0">
                <a:solidFill>
                  <a:srgbClr val="0F1115"/>
                </a:solidFill>
                <a:effectLst/>
                <a:latin typeface="quote-cjk-patch"/>
              </a:rPr>
              <a:t>+£409.418 adicionales</a:t>
            </a:r>
            <a:r>
              <a:rPr lang="es-ES" sz="2000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D6A9AA-DAF8-3EB1-F98E-3923A91A8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2B802E-BFC6-4F89-8E3C-91026AB025AB}" type="datetime1">
              <a:rPr lang="es-ES" smtClean="0"/>
              <a:t>12/09/2026</a:t>
            </a:fld>
            <a:endParaRPr lang="en-US" dirty="0"/>
          </a:p>
        </p:txBody>
      </p:sp>
      <p:pic>
        <p:nvPicPr>
          <p:cNvPr id="5" name="ElevenLabs_2026-09-11T23_34_56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8C486949-0599-9215-13F4-BB09534B80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851038" y="575257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6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22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786F7-E0AD-A677-CF31-B9963BE88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Plan de acción: 7 recomendaciones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639C5B27-58FA-F6DD-684B-16FC53B888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2513106"/>
          <a:ext cx="10058401" cy="2950976"/>
        </p:xfrm>
        <a:graphic>
          <a:graphicData uri="http://schemas.openxmlformats.org/drawingml/2006/table">
            <a:tbl>
              <a:tblPr/>
              <a:tblGrid>
                <a:gridCol w="1825269">
                  <a:extLst>
                    <a:ext uri="{9D8B030D-6E8A-4147-A177-3AD203B41FA5}">
                      <a16:colId xmlns:a16="http://schemas.microsoft.com/office/drawing/2014/main" val="2223903661"/>
                    </a:ext>
                  </a:extLst>
                </a:gridCol>
                <a:gridCol w="2058283">
                  <a:extLst>
                    <a:ext uri="{9D8B030D-6E8A-4147-A177-3AD203B41FA5}">
                      <a16:colId xmlns:a16="http://schemas.microsoft.com/office/drawing/2014/main" val="1755051494"/>
                    </a:ext>
                  </a:extLst>
                </a:gridCol>
                <a:gridCol w="2058283">
                  <a:extLst>
                    <a:ext uri="{9D8B030D-6E8A-4147-A177-3AD203B41FA5}">
                      <a16:colId xmlns:a16="http://schemas.microsoft.com/office/drawing/2014/main" val="2474556270"/>
                    </a:ext>
                  </a:extLst>
                </a:gridCol>
                <a:gridCol w="2058283">
                  <a:extLst>
                    <a:ext uri="{9D8B030D-6E8A-4147-A177-3AD203B41FA5}">
                      <a16:colId xmlns:a16="http://schemas.microsoft.com/office/drawing/2014/main" val="799431098"/>
                    </a:ext>
                  </a:extLst>
                </a:gridCol>
                <a:gridCol w="2058283">
                  <a:extLst>
                    <a:ext uri="{9D8B030D-6E8A-4147-A177-3AD203B41FA5}">
                      <a16:colId xmlns:a16="http://schemas.microsoft.com/office/drawing/2014/main" val="2855432397"/>
                    </a:ext>
                  </a:extLst>
                </a:gridCol>
              </a:tblGrid>
              <a:tr h="36887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#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Acción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Segmento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Prioridad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Impacto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4690"/>
                  </a:ext>
                </a:extLst>
              </a:tr>
              <a:tr h="368872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Programa VIP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Campeones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ALTA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Retener £11,4M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001910"/>
                  </a:ext>
                </a:extLst>
              </a:tr>
              <a:tr h="368872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Reactivación urgente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En riesgo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ALTA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+£400.000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968836"/>
                  </a:ext>
                </a:extLst>
              </a:tr>
              <a:tr h="368872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Segunda compra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Necesitan atención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MEDIA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+£409.418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34537"/>
                  </a:ext>
                </a:extLst>
              </a:tr>
              <a:tr h="368872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Upselling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Leales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MEDIA-ALTA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+£356.000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987374"/>
                  </a:ext>
                </a:extLst>
              </a:tr>
              <a:tr h="368872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Nurturing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Potenciales leales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MEDIA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+£89.000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103763"/>
                  </a:ext>
                </a:extLst>
              </a:tr>
              <a:tr h="368872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Expansión internacional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Países Bajos, Australia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MEDIA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Largo plazo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443387"/>
                  </a:ext>
                </a:extLst>
              </a:tr>
              <a:tr h="368872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7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Planificación estacional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Todo el negocio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>
                          <a:effectLst/>
                          <a:latin typeface="quote-cjk-patch"/>
                        </a:rPr>
                        <a:t>CONTINUA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00" b="0" dirty="0">
                          <a:effectLst/>
                          <a:latin typeface="quote-cjk-patch"/>
                        </a:rPr>
                        <a:t>Optimización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211857"/>
                  </a:ext>
                </a:extLst>
              </a:tr>
            </a:tbl>
          </a:graphicData>
        </a:graphic>
      </p:graphicFrame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8ADA52-DC1E-3505-C336-D8D3A81DA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2B802E-BFC6-4F89-8E3C-91026AB025AB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26B929A-1162-0809-FA2A-A3BFE9B0C582}"/>
              </a:ext>
            </a:extLst>
          </p:cNvPr>
          <p:cNvSpPr txBox="1"/>
          <p:nvPr/>
        </p:nvSpPr>
        <p:spPr>
          <a:xfrm>
            <a:off x="1036636" y="5186018"/>
            <a:ext cx="60970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endParaRPr lang="es-E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200" b="1" i="0" dirty="0">
                <a:solidFill>
                  <a:srgbClr val="0F1115"/>
                </a:solidFill>
                <a:effectLst/>
                <a:latin typeface="quote-cjk-patch"/>
              </a:rPr>
              <a:t>Cierre:</a:t>
            </a:r>
            <a:r>
              <a:rPr lang="es-ES" sz="1200" b="0" i="0" dirty="0">
                <a:solidFill>
                  <a:srgbClr val="0F1115"/>
                </a:solidFill>
                <a:effectLst/>
                <a:latin typeface="quote-cjk-patch"/>
              </a:rPr>
              <a:t> las 3 acciones prioritarias (1, 2 y 3) concentran el </a:t>
            </a:r>
            <a:r>
              <a:rPr lang="es-ES" sz="1200" b="1" i="0" dirty="0">
                <a:solidFill>
                  <a:srgbClr val="0F1115"/>
                </a:solidFill>
                <a:effectLst/>
                <a:latin typeface="quote-cjk-patch"/>
              </a:rPr>
              <a:t>85% del impacto potencial</a:t>
            </a:r>
            <a:r>
              <a:rPr lang="es-ES" sz="1200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</p:txBody>
      </p:sp>
      <p:pic>
        <p:nvPicPr>
          <p:cNvPr id="8" name="ElevenLabs_2026-09-11T23_36_50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8007C8DE-0322-34C9-D613-09C7195490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61199" y="571177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3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56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AB4E3-EEB6-D77C-CF72-4FE542AC1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423260"/>
          </a:xfrm>
        </p:spPr>
        <p:txBody>
          <a:bodyPr>
            <a:normAutofit fontScale="90000"/>
          </a:bodyPr>
          <a:lstStyle/>
          <a:p>
            <a:r>
              <a:rPr lang="es-ES" sz="3600" dirty="0"/>
              <a:t>Impacto potencial: +£1,16 M en 12 meses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562133D4-00B8-14D7-883C-CCB696A121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074721"/>
              </p:ext>
            </p:extLst>
          </p:nvPr>
        </p:nvGraphicFramePr>
        <p:xfrm>
          <a:off x="7670616" y="2163318"/>
          <a:ext cx="5039050" cy="1844360"/>
        </p:xfrm>
        <a:graphic>
          <a:graphicData uri="http://schemas.openxmlformats.org/drawingml/2006/table">
            <a:tbl>
              <a:tblPr/>
              <a:tblGrid>
                <a:gridCol w="2519525">
                  <a:extLst>
                    <a:ext uri="{9D8B030D-6E8A-4147-A177-3AD203B41FA5}">
                      <a16:colId xmlns:a16="http://schemas.microsoft.com/office/drawing/2014/main" val="611927626"/>
                    </a:ext>
                  </a:extLst>
                </a:gridCol>
                <a:gridCol w="2519525">
                  <a:extLst>
                    <a:ext uri="{9D8B030D-6E8A-4147-A177-3AD203B41FA5}">
                      <a16:colId xmlns:a16="http://schemas.microsoft.com/office/drawing/2014/main" val="2852846986"/>
                    </a:ext>
                  </a:extLst>
                </a:gridCol>
              </a:tblGrid>
              <a:tr h="23873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b="0">
                          <a:effectLst/>
                          <a:latin typeface="quote-cjk-patch"/>
                        </a:rPr>
                        <a:t>Concepto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s-ES" sz="1125" b="0">
                          <a:effectLst/>
                          <a:latin typeface="quote-cjk-patch"/>
                        </a:rPr>
                        <a:t>Valor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077524"/>
                  </a:ext>
                </a:extLst>
              </a:tr>
              <a:tr h="238739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b="1" dirty="0">
                          <a:effectLst/>
                          <a:latin typeface="quote-cjk-patch"/>
                        </a:rPr>
                        <a:t>Inversión estimada</a:t>
                      </a:r>
                      <a:endParaRPr lang="es-ES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b="0">
                          <a:effectLst/>
                          <a:latin typeface="quote-cjk-patch"/>
                        </a:rPr>
                        <a:t>£50.000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999317"/>
                  </a:ext>
                </a:extLst>
              </a:tr>
              <a:tr h="238739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b="1">
                          <a:effectLst/>
                          <a:latin typeface="quote-cjk-patch"/>
                        </a:rPr>
                        <a:t>Retorno esperado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b="0">
                          <a:effectLst/>
                          <a:latin typeface="quote-cjk-patch"/>
                        </a:rPr>
                        <a:t>£1.165.418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521048"/>
                  </a:ext>
                </a:extLst>
              </a:tr>
              <a:tr h="238739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b="1">
                          <a:effectLst/>
                          <a:latin typeface="quote-cjk-patch"/>
                        </a:rPr>
                        <a:t>ROI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b="1">
                          <a:effectLst/>
                          <a:latin typeface="quote-cjk-patch"/>
                        </a:rPr>
                        <a:t>23x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783176"/>
                  </a:ext>
                </a:extLst>
              </a:tr>
              <a:tr h="238739"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b="1">
                          <a:effectLst/>
                          <a:latin typeface="quote-cjk-patch"/>
                        </a:rPr>
                        <a:t>Crecimiento</a:t>
                      </a:r>
                      <a:endParaRPr lang="es-ES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8889"/>
                        </a:lnSpc>
                        <a:buNone/>
                      </a:pPr>
                      <a:r>
                        <a:rPr lang="es-ES" sz="1125" b="0" dirty="0">
                          <a:effectLst/>
                          <a:latin typeface="quote-cjk-patch"/>
                        </a:rPr>
                        <a:t>+7,1%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810980"/>
                  </a:ext>
                </a:extLst>
              </a:tr>
            </a:tbl>
          </a:graphicData>
        </a:graphic>
      </p:graphicFrame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8CFFDD-BFA5-5EBB-EF2E-51C4EAA77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2B802E-BFC6-4F89-8E3C-91026AB025AB}" type="datetime1">
              <a:rPr lang="es-ES" smtClean="0"/>
              <a:t>12/09/2026</a:t>
            </a:fld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D65A8EC-610F-7684-683D-BC9DB111072E}"/>
              </a:ext>
            </a:extLst>
          </p:cNvPr>
          <p:cNvSpPr txBox="1"/>
          <p:nvPr/>
        </p:nvSpPr>
        <p:spPr>
          <a:xfrm>
            <a:off x="1112688" y="1654341"/>
            <a:ext cx="6817394" cy="4617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200" b="1" i="0" dirty="0" err="1">
                <a:solidFill>
                  <a:srgbClr val="0F1115"/>
                </a:solidFill>
                <a:effectLst/>
                <a:latin typeface="quote-cjk-patch"/>
              </a:rPr>
              <a:t>KPIs</a:t>
            </a:r>
            <a:r>
              <a:rPr lang="es-ES" sz="1200" b="1" i="0" dirty="0">
                <a:solidFill>
                  <a:srgbClr val="0F1115"/>
                </a:solidFill>
                <a:effectLst/>
                <a:latin typeface="quote-cjk-patch"/>
              </a:rPr>
              <a:t> destacados (tarjetas):</a:t>
            </a:r>
            <a:endParaRPr lang="es-E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200" b="1" i="0" dirty="0">
                <a:solidFill>
                  <a:srgbClr val="0F1115"/>
                </a:solidFill>
                <a:effectLst/>
                <a:latin typeface="quote-cjk-patch"/>
              </a:rPr>
              <a:t>Próximos pasos (timeline):</a:t>
            </a:r>
            <a:endParaRPr lang="es-ES" sz="975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just" latinLnBrk="1">
              <a:spcBef>
                <a:spcPts val="1200"/>
              </a:spcBef>
              <a:spcAft>
                <a:spcPts val="825"/>
              </a:spcAft>
              <a:buNone/>
            </a:pPr>
            <a:r>
              <a:rPr lang="es-ES" sz="975" b="0" i="0" dirty="0">
                <a:solidFill>
                  <a:srgbClr val="0F1115"/>
                </a:solidFill>
                <a:effectLst/>
                <a:latin typeface="Menlo"/>
              </a:rPr>
              <a:t>Semana 1-2  →  Implementar programa VIP</a:t>
            </a:r>
          </a:p>
          <a:p>
            <a:pPr marL="0" marR="0" indent="0" algn="just" latinLnBrk="1">
              <a:spcBef>
                <a:spcPts val="1200"/>
              </a:spcBef>
              <a:spcAft>
                <a:spcPts val="825"/>
              </a:spcAft>
              <a:buNone/>
            </a:pPr>
            <a:r>
              <a:rPr lang="es-ES" sz="975" b="0" i="0" dirty="0">
                <a:solidFill>
                  <a:srgbClr val="0F1115"/>
                </a:solidFill>
                <a:effectLst/>
                <a:latin typeface="Menlo"/>
              </a:rPr>
              <a:t>Semana 3-4  →  Lanzar campaña de reactivación</a:t>
            </a:r>
          </a:p>
          <a:p>
            <a:pPr marL="0" marR="0" indent="0" algn="just" latinLnBrk="1">
              <a:spcBef>
                <a:spcPts val="1200"/>
              </a:spcBef>
              <a:spcAft>
                <a:spcPts val="825"/>
              </a:spcAft>
              <a:buNone/>
            </a:pPr>
            <a:r>
              <a:rPr lang="es-ES" sz="975" b="0" i="0" dirty="0">
                <a:solidFill>
                  <a:srgbClr val="0F1115"/>
                </a:solidFill>
                <a:effectLst/>
                <a:latin typeface="Menlo"/>
              </a:rPr>
              <a:t>Mes 2       →  Desplegar campaña de segunda compra</a:t>
            </a:r>
          </a:p>
          <a:p>
            <a:pPr marL="0" marR="0" indent="0" algn="just" latinLnBrk="1">
              <a:spcBef>
                <a:spcPts val="1200"/>
              </a:spcBef>
              <a:spcAft>
                <a:spcPts val="825"/>
              </a:spcAft>
              <a:buNone/>
            </a:pPr>
            <a:r>
              <a:rPr lang="es-ES" sz="975" b="0" i="0" dirty="0">
                <a:solidFill>
                  <a:srgbClr val="0F1115"/>
                </a:solidFill>
                <a:effectLst/>
                <a:latin typeface="Menlo"/>
              </a:rPr>
              <a:t>Mes 3       →  Iniciar análisis internacional</a:t>
            </a:r>
          </a:p>
          <a:p>
            <a:pPr marL="0" marR="0" indent="0" algn="just" latinLnBrk="1">
              <a:spcBef>
                <a:spcPts val="1200"/>
              </a:spcBef>
              <a:spcAft>
                <a:spcPts val="825"/>
              </a:spcAft>
              <a:buNone/>
            </a:pPr>
            <a:r>
              <a:rPr lang="es-ES" sz="975" b="0" i="0" dirty="0">
                <a:solidFill>
                  <a:srgbClr val="0F1115"/>
                </a:solidFill>
                <a:effectLst/>
                <a:latin typeface="Menlo"/>
              </a:rPr>
              <a:t>Continuo    →  Monitorizar </a:t>
            </a:r>
            <a:r>
              <a:rPr lang="es-ES" sz="975" b="0" i="0" dirty="0" err="1">
                <a:solidFill>
                  <a:srgbClr val="0F1115"/>
                </a:solidFill>
                <a:effectLst/>
                <a:latin typeface="Menlo"/>
              </a:rPr>
              <a:t>KPIs</a:t>
            </a:r>
            <a:r>
              <a:rPr lang="es-ES" sz="975" b="0" i="0" dirty="0">
                <a:solidFill>
                  <a:srgbClr val="0F1115"/>
                </a:solidFill>
                <a:effectLst/>
                <a:latin typeface="Menlo"/>
              </a:rPr>
              <a:t> mensualmente</a:t>
            </a:r>
          </a:p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200" b="1" i="0" dirty="0">
                <a:solidFill>
                  <a:srgbClr val="0F1115"/>
                </a:solidFill>
                <a:effectLst/>
                <a:latin typeface="quote-cjk-patch"/>
              </a:rPr>
              <a:t>Cierre:</a:t>
            </a:r>
            <a:endParaRPr lang="es-E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just">
              <a:spcBef>
                <a:spcPts val="1200"/>
              </a:spcBef>
              <a:buNone/>
            </a:pPr>
            <a:r>
              <a:rPr lang="es-ES" sz="1200" b="1" i="0" dirty="0">
                <a:solidFill>
                  <a:srgbClr val="0F1115"/>
                </a:solidFill>
                <a:effectLst/>
                <a:latin typeface="quote-cjk-patch"/>
              </a:rPr>
              <a:t>El crecimiento está dentro de nuestra base de clientes actual.</a:t>
            </a:r>
            <a:endParaRPr lang="es-E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200" b="1" i="0" dirty="0">
                <a:solidFill>
                  <a:srgbClr val="0F1115"/>
                </a:solidFill>
                <a:effectLst/>
                <a:latin typeface="quote-cjk-patch"/>
              </a:rPr>
              <a:t>Contacto:</a:t>
            </a:r>
            <a:endParaRPr lang="es-E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-3429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0F1115"/>
                </a:solidFill>
                <a:effectLst/>
                <a:latin typeface="quote-cjk-patch"/>
              </a:rPr>
              <a:t>Judit Giravent</a:t>
            </a:r>
          </a:p>
        </p:txBody>
      </p:sp>
      <p:pic>
        <p:nvPicPr>
          <p:cNvPr id="8" name="ElevenLabs_2026-09-11T23_41_26_Sofia - Captivating Narration_pvc_sp100_s50_sb75_se34_b_m2">
            <a:hlinkClick r:id="" action="ppaction://media"/>
            <a:extLst>
              <a:ext uri="{FF2B5EF4-FFF2-40B4-BE49-F238E27FC236}">
                <a16:creationId xmlns:a16="http://schemas.microsoft.com/office/drawing/2014/main" id="{11E1BD5A-5AD1-3258-593E-D74A50B4B1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668317" y="5705141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68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22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Personalizado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055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{2073B75F-F546-48AE-A3C5-1C03A53E2028}TFf0a5ceae-4542-492d-822e-d65a94fb0e1ed91c9099_win32-ce6bb8b1e531</Template>
  <TotalTime>39</TotalTime>
  <Words>870</Words>
  <Application>Microsoft Office PowerPoint</Application>
  <PresentationFormat>Panorámica</PresentationFormat>
  <Paragraphs>197</Paragraphs>
  <Slides>12</Slides>
  <Notes>0</Notes>
  <HiddenSlides>0</HiddenSlides>
  <MMClips>12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Bookman Old Style</vt:lpstr>
      <vt:lpstr>Calibri</vt:lpstr>
      <vt:lpstr>Franklin Gothic Book</vt:lpstr>
      <vt:lpstr>Menlo</vt:lpstr>
      <vt:lpstr>quote-cjk-patch</vt:lpstr>
      <vt:lpstr>Personalizado</vt:lpstr>
      <vt:lpstr>Análisis de Negocio: Online Retail II Segmentación de clientes y recomendaciones estratégicas  Herramientas: Python · pandas · matplotlib · Power BI</vt:lpstr>
      <vt:lpstr>¿Qué vamos a analizar?  Dataset: Online Retail II (UCI Machine Learning Repository). Periodo: diciembre 2009 – diciembre 2011. Volumen: 1.067.371 transacciones · 5.852 clientes · 43 países. Sector: tienda online británica de regalo y decoración.  ¿Cómo podemos aumentar los ingresos con los clientes que ya tenemos?  Objetivos: Analizar el comportamiento de compra. Segmentar la base de clientes. Identificar oportunidades cuantificables.           </vt:lpstr>
      <vt:lpstr>Cómo lo hemos hecho </vt:lpstr>
      <vt:lpstr>Panorama general (2009–2011)</vt:lpstr>
      <vt:lpstr>El 22% de los clientes genera el 70% de los ingresos</vt:lpstr>
      <vt:lpstr>Los 6 segmentos de clientes</vt:lpstr>
      <vt:lpstr>¿Dónde debemos actuar primero?</vt:lpstr>
      <vt:lpstr>Hallazgo 1: los Campeones</vt:lpstr>
      <vt:lpstr>Hallazgo 2: En riesgo</vt:lpstr>
      <vt:lpstr>Hallazgo 3: la gran oportunidad</vt:lpstr>
      <vt:lpstr>Plan de acción: 7 recomendaciones</vt:lpstr>
      <vt:lpstr>Impacto potencial: +£1,16 M en 12 meses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 Giravent Pineda</dc:creator>
  <cp:lastModifiedBy>Judit Giravent Pineda</cp:lastModifiedBy>
  <cp:revision>13</cp:revision>
  <dcterms:created xsi:type="dcterms:W3CDTF">2026-09-11T23:03:18Z</dcterms:created>
  <dcterms:modified xsi:type="dcterms:W3CDTF">2026-09-11T23:42:28Z</dcterms:modified>
</cp:coreProperties>
</file>